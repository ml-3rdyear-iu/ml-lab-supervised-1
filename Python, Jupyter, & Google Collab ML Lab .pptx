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7"/>
  </p:notesMasterIdLst>
  <p:sldIdLst>
    <p:sldId id="256" r:id="rId2"/>
    <p:sldId id="269" r:id="rId3"/>
    <p:sldId id="277" r:id="rId4"/>
    <p:sldId id="258" r:id="rId5"/>
    <p:sldId id="259" r:id="rId6"/>
    <p:sldId id="261" r:id="rId7"/>
    <p:sldId id="263" r:id="rId8"/>
    <p:sldId id="265" r:id="rId9"/>
    <p:sldId id="267" r:id="rId10"/>
    <p:sldId id="270" r:id="rId11"/>
    <p:sldId id="268" r:id="rId12"/>
    <p:sldId id="271" r:id="rId13"/>
    <p:sldId id="273" r:id="rId14"/>
    <p:sldId id="274" r:id="rId15"/>
    <p:sldId id="275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83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E5F1D3-8859-4FDE-B249-D35AA2290A7A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8E49FC-7E0C-40B9-AB37-CD9300E2BB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1767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97DF9-2C43-476E-A40C-B878CC4775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656381-6065-446B-8405-66F3DC3EF1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609D22-6BEE-4450-819F-C6F95FEA1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0681B-9DCA-413D-BAA6-8490AC3AECC3}" type="datetime1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A15891-C8D2-4B7F-BFC2-94BC8529F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E93A85-EDD9-4B2F-8353-F1A2FB8E7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CC81B-86E5-4C0F-B0C0-B66564EE0E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3028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A19BA-5E12-44D1-84A3-E2B3F7752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2B6BFA-D199-4A7F-99BB-1E0024FA83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E92C5C-3B93-4572-B40F-026319FF7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FF31D-CFCB-46FA-936E-040A855437AC}" type="datetime1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9C759D-3B96-45E1-A658-D1AEDAC45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9E8BB-4480-413B-96E0-B80D55B62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CC81B-86E5-4C0F-B0C0-B66564EE0E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2400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77CC2-E712-420D-A298-AE2572E7C5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6B2938-EC54-400D-AC7A-02455B8D2B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D5B7B6-35C1-43CE-9F4E-B54F4AED5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D4529-B560-4712-AFB2-CD16C5EC0E83}" type="datetime1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F31967-9A82-4FEB-90B5-388070452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1B11D0-0458-4139-BB95-75D2ACFAC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CC81B-86E5-4C0F-B0C0-B66564EE0E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994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F1044-EF99-4BD2-B634-77EB853C1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12B8DF-6708-4011-B857-568E63CCEF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5F9F88-B497-4E5D-9F61-2ACFD6704A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96C6B6-365C-4292-8E2A-9755D4F48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5309A-49DC-439A-BC3D-72584546493B}" type="datetime1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7F7D4-42FF-41DF-A0D9-79594D35C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4CBD1A-B8F7-4C3F-8934-7059ED613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CC81B-86E5-4C0F-B0C0-B66564EE0E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5946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22AB2-14AB-45EF-BCDE-4453DFBC8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2B79E9-9FB3-4C6C-9EB0-5EB4883091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6600BF-077B-4EF3-A860-F59E2E4AEB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A6268E-D95A-48E2-B891-89B58C12E2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3682A-AE94-4BD2-A3EA-C99DC67CEB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39504D-00D1-4A01-BFB3-441593A971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CE971-5402-442D-BD6A-9DDE522C511C}" type="datetime1">
              <a:rPr lang="en-US" smtClean="0"/>
              <a:t>3/19/2026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4396AC-9959-4862-950C-5A7E8684F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DE69ECF-72B0-4F64-97F4-3C3B137BA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CC81B-86E5-4C0F-B0C0-B66564EE0E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6740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47B72-109D-4A0C-83A6-B0E0EFB5E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85F880-4A90-4AFA-AA65-F4D17BC18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A72AA-9E8F-42F8-994A-DE9A21262B77}" type="datetime1">
              <a:rPr lang="en-US" smtClean="0"/>
              <a:t>3/19/2026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040794-FFB9-4AD1-BC2B-6D38C1DB0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FAA8B1-D13F-4AD6-BEBF-9F43F5557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CC81B-86E5-4C0F-B0C0-B66564EE0E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6649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F22688-E59E-4078-85AD-4FD8E40FC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FCDD3-E16A-4418-8BB6-9B040A4EF25D}" type="datetime1">
              <a:rPr lang="en-US" smtClean="0"/>
              <a:t>3/19/2026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07268C-00DE-40C0-9058-12ACF3E0A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C1851B-7ECD-4CC0-952B-EA4AA2F13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CC81B-86E5-4C0F-B0C0-B66564EE0E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44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55068-20D8-4FF9-B7FF-9BC613A1D5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D0277A-A288-47FD-B378-B0F4A8E731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95DBD7-84DD-45C0-B18B-25303FB65A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41E030-1140-44DD-A3D9-0528A08E7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A5787-5D00-460B-B55C-78445E8446FC}" type="datetime1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C2D942-C62E-4F7A-A8D5-0A3EB71AAA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FEFAAE-246E-4CB0-BD75-03E8E0B9E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CC81B-86E5-4C0F-B0C0-B66564EE0E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783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EB95C-9D11-4018-BF82-627CDA08C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C5A667-DCC6-4AE5-9EEC-F3C138AE5A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A32049-4CE3-4FCD-8A09-BCA842604C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995893-444B-43B3-AE0D-6DBDCF5BD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97577-6752-4AB4-B6EF-6C4720D60C5D}" type="datetime1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0E67D7-F687-479F-9A48-E7642081D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C55C0E-569D-4527-A74F-1886384D1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CC81B-86E5-4C0F-B0C0-B66564EE0E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1170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97F95-5376-41DD-BD37-F539AF711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285AD3-EC51-48B6-AE35-1698D37D59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968718-7D03-42BC-9A35-A1108753E0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92611-7925-40CB-94CA-35C90DE5F6F5}" type="datetime1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B1E46C-B1D7-4325-8D8A-DB0BBF592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103BE7-CD51-4C79-8373-C54524424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CC81B-86E5-4C0F-B0C0-B66564EE0E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722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D4C43F-D890-4157-8557-6D2E96D45B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19275B-E29B-4AB9-BA4A-7485A5CA9E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973639-759B-4FD9-9C54-23AD6BD19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58B5C-8D64-4C10-ADD4-7F6AC18574AE}" type="datetime1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35C7DC-5FB1-4610-A5E4-F3B0649BF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4ED0DA-CDE9-49EE-9C14-4AF8AB8B1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CC81B-86E5-4C0F-B0C0-B66564EE0E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8829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38D8354-2FDC-4D48-8616-478738C92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6CF757-1900-4D07-B7DF-89EF52510B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AAD538-50C2-46C5-9302-89A8C7BE93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473B1E-44FF-47DF-BBB6-1DBFD9C277D8}" type="datetime1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DDE6DD-97A3-4E6A-AF58-2293C25AB2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4F1640-2C27-4D42-AD93-0945E9ED49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ACC81B-86E5-4C0F-B0C0-B66564EE0E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3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python.org/downloads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colab.research.google.com/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C9F44-4DE7-4892-9153-91F16067D1A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latin typeface="Bahnschrift Light Condensed" panose="020B0502040204020203" pitchFamily="34" charset="0"/>
              </a:rPr>
              <a:t>Python, </a:t>
            </a:r>
            <a:r>
              <a:rPr lang="en-US" b="1" i="1" dirty="0" err="1">
                <a:latin typeface="Bahnschrift Light Condensed" panose="020B0502040204020203" pitchFamily="34" charset="0"/>
              </a:rPr>
              <a:t>Jupyter</a:t>
            </a:r>
            <a:r>
              <a:rPr lang="en-US" b="1" i="1" dirty="0">
                <a:latin typeface="Bahnschrift Light Condensed" panose="020B0502040204020203" pitchFamily="34" charset="0"/>
              </a:rPr>
              <a:t>, &amp; Google Collab ML Lab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04B202-D06D-4B9B-B8DD-B3102EA6BDF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Session 1: Machine Learning using Python in </a:t>
            </a:r>
            <a:r>
              <a:rPr lang="en-US" dirty="0" err="1"/>
              <a:t>Jupyter</a:t>
            </a:r>
            <a:r>
              <a:rPr lang="en-US" dirty="0"/>
              <a:t> Notebook &amp; Google Collab </a:t>
            </a:r>
          </a:p>
        </p:txBody>
      </p:sp>
    </p:spTree>
    <p:extLst>
      <p:ext uri="{BB962C8B-B14F-4D97-AF65-F5344CB8AC3E}">
        <p14:creationId xmlns:p14="http://schemas.microsoft.com/office/powerpoint/2010/main" val="33916752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DABA7-1EB3-487B-BB1F-B7F4ED731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79662"/>
            <a:ext cx="10515600" cy="1325563"/>
          </a:xfrm>
        </p:spPr>
        <p:txBody>
          <a:bodyPr/>
          <a:lstStyle/>
          <a:p>
            <a:r>
              <a:rPr lang="en-US" dirty="0"/>
              <a:t>Part I : Setting up </a:t>
            </a:r>
            <a:r>
              <a:rPr lang="en-US" b="1" dirty="0" err="1"/>
              <a:t>Jupyter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49F9B8-BDB9-46E0-9722-C830516E2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CC81B-86E5-4C0F-B0C0-B66564EE0EC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6345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3D2A0-F53A-4D6F-B01C-DA1309810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>
                <a:latin typeface="Abyssinica SIL Connected" panose="02000000000000000000" pitchFamily="2" charset="0"/>
                <a:ea typeface="Abyssinica SIL Connected" panose="02000000000000000000" pitchFamily="2" charset="0"/>
                <a:cs typeface="Abyssinica SIL Connected" panose="02000000000000000000" pitchFamily="2" charset="0"/>
              </a:rPr>
              <a:t>Introduction</a:t>
            </a:r>
            <a:endParaRPr lang="en-US" i="1" dirty="0">
              <a:latin typeface="Abyssinica SIL Connected" panose="02000000000000000000" pitchFamily="2" charset="0"/>
              <a:ea typeface="Abyssinica SIL Connected" panose="02000000000000000000" pitchFamily="2" charset="0"/>
              <a:cs typeface="Abyssinica SIL Connected" panose="02000000000000000000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999745-3196-4F78-9E9B-CA09EE60C9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2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In this session, we will: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lang="en-US" altLang="en-US" sz="22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Understand Python and its ecosystem</a:t>
            </a:r>
            <a:endParaRPr lang="en-US" altLang="en-US" sz="22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457200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Python basics, pip for packages, </a:t>
            </a:r>
            <a:r>
              <a:rPr lang="en-US" altLang="en-US" sz="22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Jupyter</a:t>
            </a:r>
            <a:r>
              <a:rPr lang="en-US" altLang="en-US" sz="22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Notebooks, and kernels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 startAt="2"/>
            </a:pPr>
            <a:r>
              <a:rPr lang="en-US" altLang="en-US" sz="22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Install and use essential ML libraries</a:t>
            </a:r>
            <a:endParaRPr lang="en-US" altLang="en-US" sz="22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457200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Prepare your environment for smooth ML experiments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 startAt="3"/>
            </a:pPr>
            <a:r>
              <a:rPr lang="en-US" altLang="en-US" sz="22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Run your first Machine Learning programs</a:t>
            </a:r>
            <a:endParaRPr lang="en-US" altLang="en-US" sz="22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457200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Hands-on practice with real datasets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 startAt="4"/>
            </a:pPr>
            <a:r>
              <a:rPr lang="en-US" altLang="en-US" sz="22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Organize your projects professionally</a:t>
            </a:r>
            <a:endParaRPr lang="en-US" altLang="en-US" sz="22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457200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Folder structure, notebooks, datasets, and templates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 startAt="5"/>
            </a:pPr>
            <a:r>
              <a:rPr lang="en-US" altLang="en-US" sz="22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Reopen and continue your work easily</a:t>
            </a:r>
            <a:endParaRPr lang="en-US" altLang="en-US" sz="22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457200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Save time by avoiding repeated installations or setup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CD9A03-3DD1-4FB3-9C88-75B3504F1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CC81B-86E5-4C0F-B0C0-B66564EE0EC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0002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35A96-4CFB-495C-B36B-BF75BE2C2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>
                <a:latin typeface="Abyssinica SIL Connected" panose="02000000000000000000" pitchFamily="2" charset="0"/>
                <a:ea typeface="Abyssinica SIL Connected" panose="02000000000000000000" pitchFamily="2" charset="0"/>
                <a:cs typeface="Abyssinica SIL Connected" panose="02000000000000000000" pitchFamily="2" charset="0"/>
              </a:rPr>
              <a:t>Key Concepts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98D34EB-2ECE-40B9-85FA-588BAE3F49E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4033220"/>
              </p:ext>
            </p:extLst>
          </p:nvPr>
        </p:nvGraphicFramePr>
        <p:xfrm>
          <a:off x="838200" y="2355374"/>
          <a:ext cx="10515600" cy="3291840"/>
        </p:xfrm>
        <a:graphic>
          <a:graphicData uri="http://schemas.openxmlformats.org/drawingml/2006/table">
            <a:tbl>
              <a:tblPr>
                <a:tableStyleId>{F5AB1C69-6EDB-4FF4-983F-18BD219EF322}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880373157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5785118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1" dirty="0"/>
                        <a:t>Term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Explanation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013735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Python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Programming language we use for ML.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4916319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pip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Python's package manager; installs extra libraries like numpy, pandas.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075063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Jupyter Notebook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Interactive environment to write Python code in cells. You can run code and see results immediately.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1894134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Kernel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Python environment that runs your code in Jupyter. Example: Python 3.12.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583468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Libraries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Pre-written Python code that adds extra functions. Examples: </a:t>
                      </a:r>
                      <a:r>
                        <a:rPr lang="en-US" dirty="0" err="1"/>
                        <a:t>numpy</a:t>
                      </a:r>
                      <a:r>
                        <a:rPr lang="en-US" dirty="0"/>
                        <a:t> for math, pandas for datasets.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8812435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23B6F3-160A-4717-9739-177A1EAE8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CC81B-86E5-4C0F-B0C0-B66564EE0EC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0391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CB239-D429-435A-82E1-1A013045B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>
                <a:latin typeface="Bahnschrift Light Condensed" panose="020B0502040204020203" pitchFamily="34" charset="0"/>
              </a:rPr>
              <a:t>Step 1: Download Python</a:t>
            </a:r>
            <a:endParaRPr lang="en-US" i="1" dirty="0">
              <a:latin typeface="Bahnschrift Light Condensed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08600-235D-4CA8-963A-81A7862B75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 to the official Python website: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https://www.python.org/downloads/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Download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latest stable version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(e.g., Python 3.12.x)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 the installer.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checkboxes during installation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Python to PATH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this lets you run Python and pip from CMD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Install launcher for all users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(optional)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Choose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Customize Installation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if you want to see options, but default is fine for beginners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Click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Install Now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wait until installation completes.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D7CBCB-7878-48F0-9816-E6B78D8B5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CC81B-86E5-4C0F-B0C0-B66564EE0EC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0583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28474-7707-479B-A907-E3ACA16A4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i="1" dirty="0">
                <a:latin typeface="Bahnschrift Light Condensed" panose="020B0502040204020203" pitchFamily="34" charset="0"/>
              </a:rPr>
              <a:t>Step 2: Verify Python &amp; pip</a:t>
            </a:r>
            <a:endParaRPr lang="en-US" i="1" dirty="0">
              <a:latin typeface="Bahnschrift Light Condensed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9F2FF8-CE3C-405B-A2A7-37D7A066F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Open </a:t>
            </a:r>
            <a:r>
              <a:rPr lang="en-US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CMD</a:t>
            </a: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(Windows Key + R </a:t>
            </a: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--&gt;</a:t>
            </a: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cmd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- - &gt;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Enter)</a:t>
            </a:r>
            <a:endParaRPr lang="en-US" alt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 startAt="2"/>
            </a:pP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Python version: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2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python --version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Should print something like: Python 3.12.1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 startAt="3"/>
            </a:pP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pip version: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2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pip --version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Should print: pip 23.1.2 from ...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 startAt="4"/>
            </a:pP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Upgrade pip (recommended):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2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python -m pip install --upgrade pip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Pip is Python’s </a:t>
            </a:r>
            <a:r>
              <a:rPr lang="en-US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package manager</a:t>
            </a: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it installs libraries for you.</a:t>
            </a:r>
          </a:p>
          <a:p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649B65-4F64-4257-8220-F8E9EE0D6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CC81B-86E5-4C0F-B0C0-B66564EE0EC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8502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F235B-6EE0-431C-96CE-03B19A4DE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i="1" dirty="0">
                <a:latin typeface="Bahnschrift Light Condensed" panose="020B0502040204020203" pitchFamily="34" charset="0"/>
              </a:rPr>
              <a:t>Step 3: Install </a:t>
            </a:r>
            <a:r>
              <a:rPr lang="en-US" altLang="en-US" b="1" i="1" dirty="0" err="1">
                <a:latin typeface="Bahnschrift Light Condensed" panose="020B0502040204020203" pitchFamily="34" charset="0"/>
              </a:rPr>
              <a:t>Jupyter</a:t>
            </a:r>
            <a:r>
              <a:rPr lang="en-US" altLang="en-US" b="1" i="1" dirty="0">
                <a:latin typeface="Bahnschrift Light Condensed" panose="020B0502040204020203" pitchFamily="34" charset="0"/>
              </a:rPr>
              <a:t> Notebook</a:t>
            </a:r>
            <a:endParaRPr lang="en-US" i="1" dirty="0">
              <a:latin typeface="Bahnschrift Light Condensed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65A9D3-5142-401A-8DCE-28F22F6A25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Install via pip: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8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pip install notebook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 startAt="2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Verify installation: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800" b="1" i="1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jupyter</a:t>
            </a:r>
            <a:r>
              <a:rPr kumimoji="0" lang="en-US" altLang="en-US" sz="2800" b="1" i="1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--version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Should show the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Jupyter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version installed.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74E2DB-B6A1-41A8-A2A2-167409D07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CC81B-86E5-4C0F-B0C0-B66564EE0EC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0892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54645-779F-4B60-A890-C2C43FCD4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i="1" dirty="0">
                <a:latin typeface="Bahnschrift Light Condensed" panose="020B0502040204020203" pitchFamily="34" charset="0"/>
              </a:rPr>
              <a:t>Step 4: Open </a:t>
            </a:r>
            <a:r>
              <a:rPr lang="en-US" altLang="en-US" b="1" i="1" dirty="0" err="1">
                <a:latin typeface="Bahnschrift Light Condensed" panose="020B0502040204020203" pitchFamily="34" charset="0"/>
              </a:rPr>
              <a:t>Jupyter</a:t>
            </a:r>
            <a:r>
              <a:rPr lang="en-US" altLang="en-US" b="1" i="1" dirty="0">
                <a:latin typeface="Bahnschrift Light Condensed" panose="020B0502040204020203" pitchFamily="34" charset="0"/>
              </a:rPr>
              <a:t> Notebook</a:t>
            </a:r>
            <a:endParaRPr lang="en-US" i="1" dirty="0">
              <a:latin typeface="Bahnschrift Light Condensed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F38ED-FB7D-484C-B78A-E8E7CDBB96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Open CMD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navigate to your projects folder (or create one):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cd C:\Users\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YourName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\Documents\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Project Folder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cd C:\Users\kali\Documents\ML_Projects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 startAt="2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Start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Jupyter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jupyter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notebook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Your default browser opens automatically.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not → CMD shows a URL → copy and paste in browser.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Optional: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Choose a preferred browser in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Jupyter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settings.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69568A-1763-43DB-9228-68E4404EB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CC81B-86E5-4C0F-B0C0-B66564EE0EC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8451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310FB-BC34-4D3F-93BB-98B0CFCD3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i="1" dirty="0">
                <a:latin typeface="Bahnschrift Light Condensed" panose="020B0502040204020203" pitchFamily="34" charset="0"/>
              </a:rPr>
              <a:t>Step 5: Create Your First Notebook</a:t>
            </a:r>
            <a:endParaRPr lang="en-US" i="1" dirty="0">
              <a:latin typeface="Bahnschrift Light Condensed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A20B68-AD9A-49BA-B8EC-5875B9A383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Jupyter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homepage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click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Python 3 (or your kernel)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 startAt="2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new notebook opens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rename it something like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First_ML.ipynb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(or to your Project Name)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 startAt="3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 typing code in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cells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run with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Shift + Enter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558CC3-1D85-49B0-898B-B317992FA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CC81B-86E5-4C0F-B0C0-B66564EE0EC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4938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F8B36F6-121D-4C52-B2BF-8380A39C40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2908300"/>
            <a:ext cx="10515600" cy="1325563"/>
          </a:xfrm>
        </p:spPr>
        <p:txBody>
          <a:bodyPr/>
          <a:lstStyle/>
          <a:p>
            <a:r>
              <a:rPr lang="en-US" dirty="0"/>
              <a:t>Part II : </a:t>
            </a:r>
            <a:r>
              <a:rPr lang="en-US" b="1" dirty="0"/>
              <a:t>Google </a:t>
            </a:r>
            <a:r>
              <a:rPr lang="en-US" b="1" dirty="0" err="1"/>
              <a:t>Colab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BC3739-CB1E-4857-92F4-A563DBE82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CC81B-86E5-4C0F-B0C0-B66564EE0EC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439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C62F2-4BEC-4F0F-8A42-4397E1A11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Using Google </a:t>
            </a:r>
            <a:r>
              <a:rPr lang="en-US" b="1" dirty="0" err="1"/>
              <a:t>Colab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812488-BCEA-4F28-8233-43D0499020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Google </a:t>
            </a:r>
            <a:r>
              <a:rPr lang="en-US" dirty="0" err="1"/>
              <a:t>Colab</a:t>
            </a:r>
            <a:r>
              <a:rPr lang="en-US" dirty="0"/>
              <a:t> is an </a:t>
            </a:r>
            <a:r>
              <a:rPr lang="en-US" b="1" dirty="0"/>
              <a:t>online alternative to </a:t>
            </a:r>
            <a:r>
              <a:rPr lang="en-US" b="1" dirty="0" err="1"/>
              <a:t>Jupyter</a:t>
            </a:r>
            <a:r>
              <a:rPr lang="en-US" b="1" dirty="0"/>
              <a:t> Notebook</a:t>
            </a:r>
            <a:r>
              <a:rPr lang="en-US" dirty="0"/>
              <a:t> — it runs in your browser and doesn’t require installation.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786C03-E847-4217-A470-FFB316570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CC81B-86E5-4C0F-B0C0-B66564EE0EC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2309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BBEF7-7F61-4F68-9813-E58990B0BB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>
                <a:latin typeface="Bahnschrift Light Condensed" panose="020B0502040204020203" pitchFamily="34" charset="0"/>
              </a:rPr>
              <a:t>Step 1: Open Google </a:t>
            </a:r>
            <a:r>
              <a:rPr lang="en-US" b="1" i="1" dirty="0" err="1">
                <a:latin typeface="Bahnschrift Light Condensed" panose="020B0502040204020203" pitchFamily="34" charset="0"/>
              </a:rPr>
              <a:t>Colab</a:t>
            </a:r>
            <a:endParaRPr lang="en-US" i="1" dirty="0">
              <a:latin typeface="Bahnschrift Light Condensed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684953-6247-45A5-A37E-90EFC4A954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 to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https://colab.research.google.com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 in with your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account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You’ll see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welcome page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options:</a:t>
            </a:r>
          </a:p>
          <a:p>
            <a:pPr lvl="1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Notebook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start a fresh Python notebook</a:t>
            </a:r>
          </a:p>
          <a:p>
            <a:pPr lvl="1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Upload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bring an existing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Jupyter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notebook from your PC</a:t>
            </a:r>
          </a:p>
          <a:p>
            <a:pPr lvl="1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open notebooks directly from GitHub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D8CA26-E1FE-464E-B819-675C2E5A5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CC81B-86E5-4C0F-B0C0-B66564EE0EC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1670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7144A-BF1E-40B4-871D-6DF2735C1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>
                <a:latin typeface="Bahnschrift Light Condensed" panose="020B0502040204020203" pitchFamily="34" charset="0"/>
              </a:rPr>
              <a:t>Step 2: Create a New Notebook</a:t>
            </a:r>
            <a:endParaRPr lang="en-US" dirty="0">
              <a:latin typeface="Bahnschrift Light Condensed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77AAE-139A-4F49-B716-D69C05668A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Click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New notebook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 startAt="2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Rename the notebook to something like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First_Colab_ML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 startAt="3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 typing code in cells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run with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Shift + Enter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Works exactly like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Jupyter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but everything runs in the cloud.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866D99-734A-4E57-A163-C4ADE3D65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CC81B-86E5-4C0F-B0C0-B66564EE0EC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2783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75DF9-7D55-45B1-8D39-FCC628055B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200150"/>
          </a:xfrm>
        </p:spPr>
        <p:txBody>
          <a:bodyPr/>
          <a:lstStyle/>
          <a:p>
            <a:r>
              <a:rPr lang="en-US" dirty="0" err="1"/>
              <a:t>Jupyter</a:t>
            </a:r>
            <a:r>
              <a:rPr lang="en-US" dirty="0"/>
              <a:t> vs Google </a:t>
            </a:r>
            <a:r>
              <a:rPr lang="en-US" dirty="0" err="1"/>
              <a:t>Colab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9CF589-F9A9-447A-A924-F1F8398F7A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1625"/>
            <a:ext cx="10515600" cy="4605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Jupyter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Notebook?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Installed locally on your PC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Runs Python code interactively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Good for offline work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files stored on your PC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Google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Colab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Runs in a web browser (cloud-based)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installation needed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Free access to GPUs and TPUs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Files stored in Google Drive or uploaded manually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0B8CA9-3EF1-431A-90B8-86EF536A7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CC81B-86E5-4C0F-B0C0-B66564EE0EC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78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1DA34-9A41-40C1-8486-A407E121A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>
                <a:latin typeface="Bahnschrift Light Condensed" panose="020B0502040204020203" pitchFamily="34" charset="0"/>
              </a:rPr>
              <a:t>Key Differences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273D8FF-AF12-4EE7-B198-A552082F164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58916370"/>
              </p:ext>
            </p:extLst>
          </p:nvPr>
        </p:nvGraphicFramePr>
        <p:xfrm>
          <a:off x="838200" y="2414588"/>
          <a:ext cx="10515600" cy="3586163"/>
        </p:xfrm>
        <a:graphic>
          <a:graphicData uri="http://schemas.openxmlformats.org/drawingml/2006/table">
            <a:tbl>
              <a:tblPr>
                <a:tableStyleId>{F5AB1C69-6EDB-4FF4-983F-18BD219EF322}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4944466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45827885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347535758"/>
                    </a:ext>
                  </a:extLst>
                </a:gridCol>
              </a:tblGrid>
              <a:tr h="512309">
                <a:tc>
                  <a:txBody>
                    <a:bodyPr/>
                    <a:lstStyle/>
                    <a:p>
                      <a:r>
                        <a:rPr lang="en-US" b="1" dirty="0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 err="1"/>
                        <a:t>Jupyter</a:t>
                      </a:r>
                      <a:r>
                        <a:rPr lang="en-US" b="1" dirty="0"/>
                        <a:t> Notebook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Google </a:t>
                      </a:r>
                      <a:r>
                        <a:rPr lang="en-US" b="1" dirty="0" err="1"/>
                        <a:t>Colab</a:t>
                      </a:r>
                      <a:endParaRPr lang="en-US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4588020"/>
                  </a:ext>
                </a:extLst>
              </a:tr>
              <a:tr h="512309">
                <a:tc>
                  <a:txBody>
                    <a:bodyPr/>
                    <a:lstStyle/>
                    <a:p>
                      <a:r>
                        <a:rPr lang="en-US"/>
                        <a:t>Installation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Required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None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8616824"/>
                  </a:ext>
                </a:extLst>
              </a:tr>
              <a:tr h="512309">
                <a:tc>
                  <a:txBody>
                    <a:bodyPr/>
                    <a:lstStyle/>
                    <a:p>
                      <a:r>
                        <a:rPr lang="en-US"/>
                        <a:t>Internet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Not required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Required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8491601"/>
                  </a:ext>
                </a:extLst>
              </a:tr>
              <a:tr h="512309">
                <a:tc>
                  <a:txBody>
                    <a:bodyPr/>
                    <a:lstStyle/>
                    <a:p>
                      <a:r>
                        <a:rPr lang="en-US"/>
                        <a:t>Storage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Local PC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Google Drive / Cloud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064989"/>
                  </a:ext>
                </a:extLst>
              </a:tr>
              <a:tr h="512309">
                <a:tc>
                  <a:txBody>
                    <a:bodyPr/>
                    <a:lstStyle/>
                    <a:p>
                      <a:r>
                        <a:rPr lang="en-US"/>
                        <a:t>Hardware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Your PC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Google’s servers (can use GPUs)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7861358"/>
                  </a:ext>
                </a:extLst>
              </a:tr>
              <a:tr h="512309">
                <a:tc>
                  <a:txBody>
                    <a:bodyPr/>
                    <a:lstStyle/>
                    <a:p>
                      <a:r>
                        <a:rPr lang="en-US"/>
                        <a:t>Sharing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Manual (upload to GitHub)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Easy (share link)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2176640"/>
                  </a:ext>
                </a:extLst>
              </a:tr>
              <a:tr h="512309">
                <a:tc>
                  <a:txBody>
                    <a:bodyPr/>
                    <a:lstStyle/>
                    <a:p>
                      <a:r>
                        <a:rPr lang="en-US"/>
                        <a:t>Performance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Depends on PC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Cloud servers, can use GPU/TPU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0266640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3FD949-DB6A-4BD0-8B96-CEE5788D0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CC81B-86E5-4C0F-B0C0-B66564EE0EC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451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764</Words>
  <Application>Microsoft Office PowerPoint</Application>
  <PresentationFormat>Widescreen</PresentationFormat>
  <Paragraphs>128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Abyssinica SIL Connected</vt:lpstr>
      <vt:lpstr>Arial</vt:lpstr>
      <vt:lpstr>Bahnschrift Light Condensed</vt:lpstr>
      <vt:lpstr>Calibri</vt:lpstr>
      <vt:lpstr>Calibri Light</vt:lpstr>
      <vt:lpstr>Tahoma</vt:lpstr>
      <vt:lpstr>Times New Roman</vt:lpstr>
      <vt:lpstr>Wingdings</vt:lpstr>
      <vt:lpstr>Office Theme</vt:lpstr>
      <vt:lpstr>Python, Jupyter, &amp; Google Collab ML Lab </vt:lpstr>
      <vt:lpstr>Part I : Setting up Jupyter</vt:lpstr>
      <vt:lpstr>Introduction</vt:lpstr>
      <vt:lpstr>Key Concepts</vt:lpstr>
      <vt:lpstr>Step 1: Download Python</vt:lpstr>
      <vt:lpstr>Step 2: Verify Python &amp; pip</vt:lpstr>
      <vt:lpstr>Step 3: Install Jupyter Notebook</vt:lpstr>
      <vt:lpstr>Step 4: Open Jupyter Notebook</vt:lpstr>
      <vt:lpstr>Step 5: Create Your First Notebook</vt:lpstr>
      <vt:lpstr>Part II : Google Colab</vt:lpstr>
      <vt:lpstr>Using Google Colab</vt:lpstr>
      <vt:lpstr>Step 1: Open Google Colab</vt:lpstr>
      <vt:lpstr>Step 2: Create a New Notebook</vt:lpstr>
      <vt:lpstr>Jupyter vs Google Colab</vt:lpstr>
      <vt:lpstr>Key Differences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&amp; Jupyter ML Lab  Session 1</dc:title>
  <dc:creator>Wanos Guade (Staff)</dc:creator>
  <cp:lastModifiedBy>Wanos Guade (Staff)</cp:lastModifiedBy>
  <cp:revision>8</cp:revision>
  <dcterms:created xsi:type="dcterms:W3CDTF">2026-03-19T01:39:20Z</dcterms:created>
  <dcterms:modified xsi:type="dcterms:W3CDTF">2026-03-19T05:59:18Z</dcterms:modified>
</cp:coreProperties>
</file>